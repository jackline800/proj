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338560" cy="0"/>
          </a:xfrm>
          <a:prstGeom prst="line">
            <a:avLst/>
          </a:prstGeom>
          <a:noFill/>
          <a:ln w="7620">
            <a:solidFill>
              <a:srgbClr val="D0D7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日射量反演改版過程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228600"/>
            <a:ext cx="2377440" cy="2377440"/>
          </a:xfrm>
          <a:prstGeom prst="arc">
            <a:avLst/>
          </a:prstGeom>
          <a:noFill/>
          <a:ln w="25400">
            <a:solidFill>
              <a:srgbClr val="FBBF24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1024128"/>
            <a:ext cx="658368" cy="65836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51560"/>
            <a:ext cx="6675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日射量反演三版改版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Python 研究版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21792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E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從現行 IDL 經驗式，到 Heliosat-4 / McCloud 與 libRadtran LUT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" y="3273552"/>
            <a:ext cx="41148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36576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第一版：現行作業基準｜第二版：IDL 幾何與雲判斷改善｜第三版：Python 模組化研究平台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619963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資料來源：日射量反演改版過程文件與目前 Python 模組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整體改版脈絡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三版不是互相取代，而是由作業穩定性逐步走向可檢查、可替換的物理模組。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51560" y="2788920"/>
            <a:ext cx="9966960" cy="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496312"/>
            <a:ext cx="594360" cy="5943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542032"/>
            <a:ext cx="594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40680" y="2496312"/>
            <a:ext cx="594360" cy="5943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40680" y="2542032"/>
            <a:ext cx="594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921240" y="2496312"/>
            <a:ext cx="594360" cy="594360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21240" y="2542032"/>
            <a:ext cx="594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現行 IDL 作業版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CHKSSAtt_5PA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穩定、快速、經驗式雲修正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IDL 改善版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1828800"/>
            <a:ext cx="21031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Smooth_1150321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69080" y="3337560"/>
            <a:ext cx="3200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加入衛星天頂角、紅外雲判斷、地形修正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A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研究版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1540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Heliosat-4 / McCloud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58200" y="3337560"/>
            <a:ext cx="32918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 頻道、LUT、雲型、相對方位角修正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4892040"/>
            <a:ext cx="10698480" cy="685800"/>
          </a:xfrm>
          <a:prstGeom prst="roundRect">
            <a:avLst>
              <a:gd name="adj" fmla="val 10667"/>
            </a:avLst>
          </a:prstGeom>
          <a:solidFill>
            <a:srgbClr val="EEF6FF"/>
          </a:solidFill>
          <a:ln w="12700">
            <a:solidFill>
              <a:srgbClr val="BBD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056632"/>
            <a:ext cx="103327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目前定位：第一版是作業基準，第二版是橋接驗證，第三版是後續研究與改良平台。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619963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重點：從單一經驗門檻，逐步走向輻射傳輸 LUT 與雲種分類。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第一版：現行 IDL 作業版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inso_ast_atm_Hima_10min_CHKSSAtt_5PA.pro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4846320" cy="4434840"/>
          </a:xfrm>
          <a:prstGeom prst="roundRect">
            <a:avLst>
              <a:gd name="adj" fmla="val 1649"/>
            </a:avLst>
          </a:prstGeom>
          <a:solidFill>
            <a:srgbClr val="ECFDF5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晴空輻射 × 雲穿透修正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91640" y="2743200"/>
            <a:ext cx="2788920" cy="0"/>
          </a:xfrm>
          <a:prstGeom prst="line">
            <a:avLst/>
          </a:prstGeom>
          <a:noFill/>
          <a:ln w="20320">
            <a:solidFill>
              <a:srgbClr val="2D6A4F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960120" y="2578608"/>
            <a:ext cx="1463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B03 反照率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88920" y="2487168"/>
            <a:ext cx="22860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trans_cloud = 1 − a_cld × albedo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425196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流程穩定、計算快速，適合作業化。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主要依賴可見光反照率與簡單雲門檻。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晴空、薄雲、海面亮化與低太陽角容易混淆。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97880" y="123444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為何需要改版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63640" y="2103120"/>
            <a:ext cx="47548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雲邊、薄雲、早晚低太陽角誤差型態明顯。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地形與離島情境需要更完整幾何修正。</a:t>
            </a:r>
            <a:endParaRPr lang="en-US" sz="1400" dirty="0"/>
          </a:p>
          <a:p>
            <a:r>
              <a:rPr lang="en-US" sz="140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 B03 門檻不足以分辨水雲、冰雲與地表亮化。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4800600"/>
            <a:ext cx="4297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6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角色：現行基準版本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02920" y="619963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第一版重點：可靠但偏經驗式，作為後續改版比較基準。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第二版：IDL 改善版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inso_ast_atm_hima_10min_Smooth_1150321.pro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3337560" cy="4480560"/>
          </a:xfrm>
          <a:prstGeom prst="roundRect">
            <a:avLst>
              <a:gd name="adj" fmla="val 2192"/>
            </a:avLst>
          </a:prstGeom>
          <a:solidFill>
            <a:srgbClr val="FFF7E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34840" y="1143000"/>
            <a:ext cx="3337560" cy="4480560"/>
          </a:xfrm>
          <a:prstGeom prst="roundRect">
            <a:avLst>
              <a:gd name="adj" fmla="val 2192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1143000"/>
            <a:ext cx="3337560" cy="4480560"/>
          </a:xfrm>
          <a:prstGeom prst="roundRect">
            <a:avLst>
              <a:gd name="adj" fmla="val 2192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44752"/>
            <a:ext cx="2560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觀測角修正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 / (solarze × cos_satza)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265176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降低不同衛星觀測角造成的反照率差異，對離島與視角邊緣較有幫助。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444752"/>
            <a:ext cx="2560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雲判斷放寬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2011680"/>
            <a:ext cx="21031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B03 + B13/B15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2880360"/>
            <a:ext cx="265176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以反照率、IR 亮溫與亮溫差共同判斷，避免完全仰賴可見光亮暗。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41080" y="1444752"/>
            <a:ext cx="2103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地形修正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49640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坡度 / 坡向 / 太陽方位角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49640" y="2880360"/>
            <a:ext cx="265176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 direct beam 依地形入射角修正，改善山區坡向與陰影影響。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7280" y="5806440"/>
            <a:ext cx="99669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5897880"/>
            <a:ext cx="96012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改善重點多在空間結構與局部情境，全域 RMSE 未必明顯反映。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19963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第二版定位：在 IDL 架構內驗證幾何與雲判斷改善方向。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第三版：Python / Heliosat-4 + McCloud 研究版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不是單純翻譯 IDL，而是改為模組化、可替換、可檢查的反演架構。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2423160"/>
            <a:ext cx="2011680" cy="822960"/>
          </a:xfrm>
          <a:prstGeom prst="chevron">
            <a:avLst/>
          </a:prstGeom>
          <a:solidFill>
            <a:srgbClr val="EAF2FF"/>
          </a:solidFill>
          <a:ln w="12700">
            <a:solidFill>
              <a:srgbClr val="9C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88920" y="2423160"/>
            <a:ext cx="2011680" cy="822960"/>
          </a:xfrm>
          <a:prstGeom prst="chevron">
            <a:avLst/>
          </a:prstGeom>
          <a:solidFill>
            <a:srgbClr val="E6FFFB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83480" y="2423160"/>
            <a:ext cx="2011680" cy="822960"/>
          </a:xfrm>
          <a:prstGeom prst="chevron">
            <a:avLst/>
          </a:prstGeom>
          <a:solidFill>
            <a:srgbClr val="FFF7E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78040" y="2423160"/>
            <a:ext cx="2011680" cy="822960"/>
          </a:xfrm>
          <a:prstGeom prst="chevron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2423160"/>
            <a:ext cx="2011680" cy="822960"/>
          </a:xfrm>
          <a:prstGeom prst="chevron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42032"/>
            <a:ext cx="14173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 頻道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寬頻反照率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63240" y="2542032"/>
            <a:ext cx="1188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Clear-sky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38928" y="2487168"/>
            <a:ext cx="1481328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Transmittance LUT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88352" y="2487168"/>
            <a:ext cx="1444752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雲型分類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low / mid / high / 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0" y="2542032"/>
            <a:ext cx="14173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相對方位角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Guardrail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886200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EEF6FF"/>
          </a:solidFill>
          <a:ln w="12700">
            <a:solidFill>
              <a:srgbClr val="BBD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096512"/>
            <a:ext cx="3657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5A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GHI = GHI_clear × KcG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4983480" y="4096512"/>
            <a:ext cx="5806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其中 GHI_clear 由 libRadtran clear-sky LUT 查表，KcG 由雲穿透率 LUT / McCloud 概念取得。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619963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第三版定位：研究與改良平台，可逐步加入新 LUT、新雲種、新幾何修正。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三版核心差異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從「作業經驗式」到「輻射傳輸 LUT + 雲型分類」。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423160" cy="502920"/>
          </a:xfrm>
          <a:prstGeom prst="roundRect">
            <a:avLst>
              <a:gd name="adj" fmla="val 14545"/>
            </a:avLst>
          </a:prstGeom>
          <a:solidFill>
            <a:srgbClr val="E5E7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62456"/>
            <a:ext cx="2423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面向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2344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362456"/>
            <a:ext cx="2606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12344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7E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362456"/>
            <a:ext cx="2606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915400" y="12344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15400" y="1362456"/>
            <a:ext cx="2606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874520"/>
            <a:ext cx="2423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002536"/>
            <a:ext cx="227685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雲修正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187452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2002536"/>
            <a:ext cx="245973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B03 經驗門檻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0760" y="187452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3912" y="2002536"/>
            <a:ext cx="245973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B03 + IR 分段改善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15400" y="187452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88552" y="2002536"/>
            <a:ext cx="245973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 / 雲型 / LUT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2697480"/>
            <a:ext cx="2423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825496"/>
            <a:ext cx="227685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269748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2825496"/>
            <a:ext cx="245973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太陽角為主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80760" y="269748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2825496"/>
            <a:ext cx="245973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加入衛星天頂角與地形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915400" y="269748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88552" y="2825496"/>
            <a:ext cx="245973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加入相對方位角 guardrail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3520440"/>
            <a:ext cx="2423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648456"/>
            <a:ext cx="227685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光譜資訊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46120" y="352044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3648456"/>
            <a:ext cx="245973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三頻道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080760" y="352044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53912" y="3648456"/>
            <a:ext cx="245973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三頻道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915400" y="352044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88552" y="3648456"/>
            <a:ext cx="245973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B01–B06 寬頻 + 熱紅外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4343400"/>
            <a:ext cx="2423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4471416"/>
            <a:ext cx="227685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46120" y="434340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9272" y="4471416"/>
            <a:ext cx="245973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作業基準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080760" y="434340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53912" y="4471416"/>
            <a:ext cx="245973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IDL 橋接改善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915400" y="4343400"/>
            <a:ext cx="2606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88552" y="4471416"/>
            <a:ext cx="245973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研究與擴充平台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85800" y="5532120"/>
            <a:ext cx="1083564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5641848"/>
            <a:ext cx="1037844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簡化說法：第一版能穩定出圖，第二版修正幾何與雲判斷，第三版讓每個物理模組可被獨立測試。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02920" y="619963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比較重點：第三版並非取代現行作業，而是用於研究驗證與下一代作業流程。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第三版 Python 反演流程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 IDL 輸入/輸出習慣，但把輻射與雲修正拆成可替換模組。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2176272"/>
            <a:ext cx="1426464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Himawari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B01–B06/B13/B14/B15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03120" y="2450592"/>
            <a:ext cx="274320" cy="0"/>
          </a:xfrm>
          <a:prstGeom prst="line">
            <a:avLst/>
          </a:prstGeom>
          <a:noFill/>
          <a:ln w="2032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04872" y="196596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E6FF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78024" y="2176272"/>
            <a:ext cx="1426464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太陽/衛星/地形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幾何計算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05072" y="2450592"/>
            <a:ext cx="274320" cy="0"/>
          </a:xfrm>
          <a:prstGeom prst="line">
            <a:avLst/>
          </a:prstGeom>
          <a:noFill/>
          <a:ln w="2032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06824" y="196596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9976" y="2176272"/>
            <a:ext cx="1426464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晴空 LUT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GHI_clear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07024" y="2450592"/>
            <a:ext cx="274320" cy="0"/>
          </a:xfrm>
          <a:prstGeom prst="line">
            <a:avLst/>
          </a:prstGeom>
          <a:noFill/>
          <a:ln w="2032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08776" y="196596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FFF7E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2176272"/>
            <a:ext cx="1426464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雲屬性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 + cloud_type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08976" y="2450592"/>
            <a:ext cx="274320" cy="0"/>
          </a:xfrm>
          <a:prstGeom prst="line">
            <a:avLst/>
          </a:prstGeom>
          <a:noFill/>
          <a:ln w="2032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10728" y="196596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FFE4E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176272"/>
            <a:ext cx="1426464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雲穿透率 LUT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KcG / Tcloud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710928" y="2450592"/>
            <a:ext cx="274320" cy="0"/>
          </a:xfrm>
          <a:prstGeom prst="line">
            <a:avLst/>
          </a:prstGeom>
          <a:noFill/>
          <a:ln w="2032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12680" y="196596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1E5A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85832" y="2176272"/>
            <a:ext cx="1426464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地表日射量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GHI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397764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160520"/>
            <a:ext cx="2011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5A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保留的 guardrail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4526280"/>
            <a:ext cx="4480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B03 幾何反照率避免寬頻反照率低估薄雲。</a:t>
            </a:r>
            <a:endParaRPr lang="en-US" sz="1250" dirty="0"/>
          </a:p>
          <a:p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近晴空時加入太陽–衛星相對方位角修正。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397764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4160520"/>
            <a:ext cx="2011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目前的輸出思路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9400" y="4526280"/>
            <a:ext cx="4480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GHI 先用 clear-sky LUT 與 cloud transmittance LUT 結合。</a:t>
            </a:r>
            <a:endParaRPr lang="en-US" sz="1250" dirty="0"/>
          </a:p>
          <a:p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direct/diffuse 可進一步由 LUT 分量改善。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19963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流程重點：每個模組都可獨立驗證，不必把誤差全部混在單一經驗式。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libRadtran LUT 建構成果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已完成晴空 LUT 與雲穿透率 LUT，並加入 thin_ice。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A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Clear-sky LUT v2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731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22402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profile</a:t>
            </a:r>
            <a:endParaRPr lang="en-US" sz="1250" dirty="0"/>
          </a:p>
          <a:p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SZA</a:t>
            </a:r>
            <a:endParaRPr lang="en-US" sz="1250" dirty="0"/>
          </a:p>
          <a:p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H2O / O3 / AOD550</a:t>
            </a:r>
            <a:endParaRPr lang="en-US" sz="1250" dirty="0"/>
          </a:p>
          <a:p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surface albedo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37560" y="1874520"/>
            <a:ext cx="731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2331720"/>
            <a:ext cx="19202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edir</a:t>
            </a:r>
            <a:endParaRPr lang="en-US" sz="1250" dirty="0"/>
          </a:p>
          <a:p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edn</a:t>
            </a:r>
            <a:endParaRPr lang="en-US" sz="1250" dirty="0"/>
          </a:p>
          <a:p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eup</a:t>
            </a:r>
            <a:endParaRPr lang="en-US" sz="1250" dirty="0"/>
          </a:p>
          <a:p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GHI_clear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4434840"/>
            <a:ext cx="4389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用途：提供反演模式的晴空背景場。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2344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536192"/>
            <a:ext cx="3657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8F8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 transmittance LUT v2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1874520"/>
            <a:ext cx="731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331720"/>
            <a:ext cx="20116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low_water</a:t>
            </a:r>
            <a:endParaRPr lang="en-US" sz="1250" dirty="0"/>
          </a:p>
          <a:p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mid_water</a:t>
            </a:r>
            <a:endParaRPr lang="en-US" sz="1250" dirty="0"/>
          </a:p>
          <a:p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deep_water</a:t>
            </a:r>
            <a:endParaRPr lang="en-US" sz="1250" dirty="0"/>
          </a:p>
          <a:p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thin_ice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006840" y="1874520"/>
            <a:ext cx="731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06840" y="2331720"/>
            <a:ext cx="2148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Tcloud = GHI_cloudy / GHI_clear</a:t>
            </a:r>
            <a:endParaRPr lang="en-US" sz="1250" dirty="0"/>
          </a:p>
          <a:p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edir_cloudy</a:t>
            </a:r>
            <a:endParaRPr lang="en-US" sz="1250" dirty="0"/>
          </a:p>
          <a:p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edn_cloudy</a:t>
            </a:r>
            <a:endParaRPr lang="en-US" sz="1250" dirty="0"/>
          </a:p>
          <a:p>
            <a:r>
              <a:rPr lang="en-US" sz="12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GHI_cloudy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0" y="4434840"/>
            <a:ext cx="4389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用途：讓不同雲種使用不同雲穿透率。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19963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LUT 重點：Kato2 broadband、DISORT 16-stream；目前以 TXT 供 Codex/作業環境讀取。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thin_ice 加入後的意義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冰雲不只是衰減，還會把直達光重新分配成散射光。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749040" cy="4343400"/>
          </a:xfrm>
          <a:prstGeom prst="roundRect">
            <a:avLst>
              <a:gd name="adj" fmla="val 1951"/>
            </a:avLst>
          </a:prstGeom>
          <a:solidFill>
            <a:srgbClr val="EAF2FF"/>
          </a:solidFill>
          <a:ln w="12700">
            <a:solidFill>
              <a:srgbClr val="BBD7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27632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A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29718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thin ice 可能被併入高雲或走 surrogate。</a:t>
            </a:r>
            <a:endParaRPr lang="en-US" sz="1350" dirty="0"/>
          </a:p>
          <a:p>
            <a:r>
              <a:rPr lang="en-US" sz="13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薄冰雲常被過度壓低，GHI 可能偏低。</a:t>
            </a:r>
            <a:endParaRPr lang="en-US" sz="1350" dirty="0"/>
          </a:p>
          <a:p>
            <a:r>
              <a:rPr lang="en-US" sz="13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直達/散射比例較難合理表示。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26280" y="1325880"/>
            <a:ext cx="2926080" cy="43434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05272" y="2057400"/>
            <a:ext cx="777240" cy="7772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05272" y="2103120"/>
            <a:ext cx="777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10912" y="3154680"/>
            <a:ext cx="19659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COT 增加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89320" y="3520440"/>
            <a:ext cx="0" cy="822960"/>
          </a:xfrm>
          <a:prstGeom prst="line">
            <a:avLst/>
          </a:prstGeom>
          <a:noFill/>
          <a:ln w="2032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956048" y="4526280"/>
            <a:ext cx="20574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Tcloud 下降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DNI ↓ / DHI ↑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35240" y="1325880"/>
            <a:ext cx="3749040" cy="4343400"/>
          </a:xfrm>
          <a:prstGeom prst="roundRect">
            <a:avLst>
              <a:gd name="adj" fmla="val 1951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1627632"/>
            <a:ext cx="1371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955280" y="2148840"/>
            <a:ext cx="29718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cloud_type 新增 thin_ice。</a:t>
            </a:r>
            <a:endParaRPr lang="en-US" sz="1350" dirty="0"/>
          </a:p>
          <a:p>
            <a:r>
              <a:rPr lang="en-US" sz="13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每個雲種皆有 1344 筆格點。</a:t>
            </a:r>
            <a:endParaRPr lang="en-US" sz="1350" dirty="0"/>
          </a:p>
          <a:p>
            <a:r>
              <a:rPr lang="en-US" sz="13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反演主程式可直接讀到 thin_ice 的 tcloud。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5806440"/>
            <a:ext cx="10424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 LUT 雲種：low_water / mid_water / deep_water / thin_ice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19963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thin_ice 檢查：COT 增加時 Tcloud 由 1 降至約 0.006，直達光快速下降且散射光主導。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第三版模組如何使用 thin_ice tcloud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主程式已具備 cloud_type 對應，重點是提供含 thin_ice 的 LUT。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1206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A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已存在於 Python 主程式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43891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CLOUD_TYPE_THIN_ICE = 3</a:t>
            </a:r>
            <a:endParaRPr lang="en-US" sz="1350" dirty="0"/>
          </a:p>
          <a:p>
            <a:r>
              <a:rPr lang="en-US" sz="13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"thin_ice" 對應薄冰雲類別</a:t>
            </a:r>
            <a:endParaRPr lang="en-US" sz="1350" dirty="0"/>
          </a:p>
          <a:p>
            <a:r>
              <a:rPr lang="en-US" sz="13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CloudTransmittanceTextLut 讀取 TXT LUT</a:t>
            </a:r>
            <a:endParaRPr lang="en-US" sz="1350" dirty="0"/>
          </a:p>
          <a:p>
            <a:r>
              <a:rPr lang="en-US" sz="13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 LUT 含 thin_ice，即可使用 libRadtran tcloud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325880"/>
            <a:ext cx="5120640" cy="4069080"/>
          </a:xfrm>
          <a:prstGeom prst="roundRect">
            <a:avLst>
              <a:gd name="adj" fmla="val 17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建議作業步驟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9400" y="2148840"/>
            <a:ext cx="43434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備份 water-only LUT。</a:t>
            </a:r>
            <a:endParaRPr lang="en-US" sz="1350" dirty="0"/>
          </a:p>
          <a:p>
            <a:r>
              <a:rPr lang="en-US" sz="13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用含 thin_ice 的 cloud_transmittance_lut_v2_cloud_types.txt 取代主 LUT。</a:t>
            </a:r>
            <a:endParaRPr lang="en-US" sz="1350" dirty="0"/>
          </a:p>
          <a:p>
            <a:r>
              <a:rPr lang="en-US" sz="13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重跑 Python 反演，比較 thin_ice 像元與測站差異。</a:t>
            </a:r>
            <a:endParaRPr lang="en-US" sz="1350" dirty="0"/>
          </a:p>
          <a:p>
            <a:r>
              <a:rPr lang="en-US" sz="135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若重視 DNI/DHI，再接入 edir_cloudy / edn_cloudy。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5504688"/>
            <a:ext cx="10012680" cy="384048"/>
          </a:xfrm>
          <a:prstGeom prst="roundRect">
            <a:avLst>
              <a:gd name="adj" fmla="val 19048"/>
            </a:avLst>
          </a:prstGeom>
          <a:solidFill>
            <a:srgbClr val="EEF6FF"/>
          </a:solidFill>
          <a:ln w="12700">
            <a:solidFill>
              <a:srgbClr val="BBD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5614416"/>
            <a:ext cx="96469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短期改善：GHI 雲修正更合理；中期改善：direct/diffuse 組成也改由 LUT 分量處理。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619963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整合重點：不需先轉 NetCDF；目前 TXT LUT 即可供 Codex / Python 直接讀取。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目前限制與風險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第三版已能測試物理化反演，但仍需用測站與圖面驗證。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291840" cy="452628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36192"/>
            <a:ext cx="23774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LUT 維度仍簡化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26517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 LUT 目前固定 H2O / O3 / AOD。</a:t>
            </a:r>
            <a:endParaRPr lang="en-US" sz="1300" dirty="0"/>
          </a:p>
          <a:p>
            <a:r>
              <a:rPr lang="en-US" sz="130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雲高、粒徑與相態仍是代表型。</a:t>
            </a:r>
            <a:endParaRPr lang="en-US" sz="1300" dirty="0"/>
          </a:p>
          <a:p>
            <a:r>
              <a:rPr lang="en-US" sz="130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深厚混合相尚未完整拆成水雲+冰雲層。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234440"/>
            <a:ext cx="3291840" cy="4526280"/>
          </a:xfrm>
          <a:prstGeom prst="roundRect">
            <a:avLst>
              <a:gd name="adj" fmla="val 2222"/>
            </a:avLst>
          </a:prstGeom>
          <a:solidFill>
            <a:srgbClr val="EAF2FF"/>
          </a:solidFill>
          <a:ln w="12700">
            <a:solidFill>
              <a:srgbClr val="BBD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536192"/>
            <a:ext cx="24688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5A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衛星反演仍需驗證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54880" y="2057400"/>
            <a:ext cx="26517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 proxy 仍需和真實雲產品比較。</a:t>
            </a:r>
            <a:endParaRPr lang="en-US" sz="1300" dirty="0"/>
          </a:p>
          <a:p>
            <a:r>
              <a:rPr lang="en-US" sz="130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寬頻 TOA albedo 與 B03 guardrail 需調參。</a:t>
            </a:r>
            <a:endParaRPr lang="en-US" sz="1300" dirty="0"/>
          </a:p>
          <a:p>
            <a:r>
              <a:rPr lang="en-US" sz="130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薄雲與海面亮化仍可能混淆。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75320" y="1234440"/>
            <a:ext cx="3291840" cy="452628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1536192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6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驗證方式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49640" y="2057400"/>
            <a:ext cx="26517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測站時序：晴空、薄雲、厚雲分組。</a:t>
            </a:r>
            <a:endParaRPr lang="en-US" sz="1300" dirty="0"/>
          </a:p>
          <a:p>
            <a:r>
              <a:rPr lang="en-US" sz="130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圖面檢查：雲邊、離島、山區。</a:t>
            </a:r>
            <a:endParaRPr lang="en-US" sz="1300" dirty="0"/>
          </a:p>
          <a:p>
            <a:r>
              <a:rPr lang="en-US" sz="1300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分量檢查：GHI、direct、diffuse。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619963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限制重點：第三版是研究平台，下一步要用實際案例讓 LUT 與分類逐步收斂。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建議後續工作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先驗證含 thin_ice 的 TXT LUT，再逐步改善 direct/diffuse 與雲型分類。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207008"/>
            <a:ext cx="438912" cy="43891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52728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252728"/>
            <a:ext cx="22860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替換主 LUT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94760" y="1243584"/>
            <a:ext cx="7223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 cloud_transmittance_lut_v2_cloud_types_with_thin_ice.txt 作為主 LUT。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39696"/>
            <a:ext cx="438912" cy="43891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85416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185416"/>
            <a:ext cx="22860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重跑案例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94760" y="2176272"/>
            <a:ext cx="7223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選晴空、薄冰雲、低層水雲、深厚雲個案比較。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072384"/>
            <a:ext cx="438912" cy="438912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18104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118104"/>
            <a:ext cx="22860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檢查像元分類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94760" y="3108960"/>
            <a:ext cx="7223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thin_ice 像元真的使用 libRadtran tcloud，而非 surrogate。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005072"/>
            <a:ext cx="438912" cy="43891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50792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擴充分量輸出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94760" y="4041648"/>
            <a:ext cx="7223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 edir_cloudy / edn_cloudy 接進 direct/diffuse 輸出。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4937760"/>
            <a:ext cx="438912" cy="43891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983480"/>
            <a:ext cx="43891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983480"/>
            <a:ext cx="22860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建立驗證表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94760" y="4974336"/>
            <a:ext cx="7223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依雲種、太陽角、地形與離島分組評估 bias/RMSE。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8680" y="5989320"/>
            <a:ext cx="10469880" cy="384048"/>
          </a:xfrm>
          <a:prstGeom prst="roundRect">
            <a:avLst>
              <a:gd name="adj" fmla="val 1904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6080760"/>
            <a:ext cx="101041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結論：加入 thin_ice 會讓 Python 版更接近 McCloud 的雲種概念，是第三版反演測試的合理下一步。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CWA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Inversion Revision Deck</dc:title>
  <dc:subject>Solar irradiance inversion revision process</dc:subject>
  <dc:creator>OpenAI</dc:creator>
  <cp:lastModifiedBy>OpenAI</cp:lastModifiedBy>
  <cp:revision>1</cp:revision>
  <dcterms:created xsi:type="dcterms:W3CDTF">2026-06-26T06:25:05Z</dcterms:created>
  <dcterms:modified xsi:type="dcterms:W3CDTF">2026-06-26T06:25:05Z</dcterms:modified>
</cp:coreProperties>
</file>